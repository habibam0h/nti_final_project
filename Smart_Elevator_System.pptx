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6" r:id="rId12"/>
    <p:sldId id="270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52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abibam0h/NTI_Final_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572000"/>
            <a:ext cx="4206240" cy="420624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17320"/>
            <a:ext cx="1051560" cy="1051560"/>
          </a:xfrm>
          <a:prstGeom prst="ellipse">
            <a:avLst/>
          </a:prstGeom>
          <a:solidFill>
            <a:srgbClr val="37418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281" y="1653921"/>
            <a:ext cx="578358" cy="5783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ELEVATOR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9-Floor Elevator Control Using ATmega32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39502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Simulation Project  •  Proteus ISIS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166360"/>
            <a:ext cx="10424160" cy="0"/>
          </a:xfrm>
          <a:prstGeom prst="line">
            <a:avLst/>
          </a:prstGeom>
          <a:noFill/>
          <a:ln w="12700">
            <a:solidFill>
              <a:srgbClr val="44509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285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55961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Alaa   •   Mostafa Ahmed   •   Habiba Mohamed   •   Youmna Tamer   •   Madonna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Elevator System is a 9-floor elevator controller built around the ATmega32 microcontroller and simulated in Proteus. Users request a floor using keypad, and the system automatically works out the direction of travel, moves the elevator, and manages the door while an LCD keeps the passenger informed at every step.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394106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81304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selection via keypad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32511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97096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direction decision (UP / DOWN)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581144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LCD status and system messages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09320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965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door open / close timing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47725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3492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 with alarm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086600" y="960120"/>
            <a:ext cx="3931920" cy="470916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1051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Floor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141732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141732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9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06640" y="187452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187452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8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06640" y="233172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233172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06640" y="278892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278892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406640" y="324612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324612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5</a:t>
            </a:r>
            <a:endParaRPr lang="en-US" sz="11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3300984"/>
            <a:ext cx="292608" cy="29260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7406640" y="370332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43800" y="370332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4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406640" y="416052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43800" y="416052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3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406640" y="461772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43800" y="461772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2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406640" y="507492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43800" y="507492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1</a:t>
            </a:r>
            <a:endParaRPr lang="en-US" sz="1150" dirty="0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" y="175450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00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Control Logic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00200" y="1993392"/>
            <a:ext cx="4069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r>
              <a:rPr lang="ar-EG" sz="12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requests and decide travel direction without manual intervention.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EF3FC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6002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105" y="1754505"/>
            <a:ext cx="377190" cy="377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600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Display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223760" y="1993392"/>
            <a:ext cx="4069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current floor, direction, and door state on the LCD at all times.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6118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EF3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8404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45" y="3994785"/>
            <a:ext cx="377190" cy="3771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8404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Passenger Safety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00200" y="4233672"/>
            <a:ext cx="4069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immediate emergency stop with alarm and warning message.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2200" y="36118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EF3FC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0" y="38404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5105" y="3994785"/>
            <a:ext cx="377190" cy="3771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38404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Hardware Simulation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223760" y="4233672"/>
            <a:ext cx="4069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motor movement, servo-driven doors, and indicators inside Proteus.</a:t>
            </a:r>
            <a:endParaRPr lang="en-US" sz="1200" dirty="0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56632" y="2316418"/>
            <a:ext cx="201168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50992" y="2515162"/>
            <a:ext cx="822960" cy="822960"/>
          </a:xfrm>
          <a:prstGeom prst="ellipse">
            <a:avLst/>
          </a:prstGeom>
          <a:solidFill>
            <a:srgbClr val="3741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2761488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492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7492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21208" y="2627314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4582" y="261817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ar-EG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Keypad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0" y="2950713"/>
            <a:ext cx="1874520" cy="0"/>
          </a:xfrm>
          <a:prstGeom prst="line">
            <a:avLst/>
          </a:prstGeom>
          <a:noFill/>
          <a:ln w="15875">
            <a:solidFill>
              <a:srgbClr val="6B74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4910328" y="2862072"/>
            <a:ext cx="164592" cy="164592"/>
          </a:xfrm>
          <a:prstGeom prst="triangle">
            <a:avLst/>
          </a:prstGeom>
          <a:solidFill>
            <a:srgbClr val="6B7480"/>
          </a:solidFill>
          <a:ln/>
        </p:spPr>
      </p:sp>
      <p:sp>
        <p:nvSpPr>
          <p:cNvPr id="12" name="Shape 9"/>
          <p:cNvSpPr/>
          <p:nvPr/>
        </p:nvSpPr>
        <p:spPr>
          <a:xfrm>
            <a:off x="533400" y="37033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68503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Button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00400" y="4065721"/>
            <a:ext cx="1874520" cy="0"/>
          </a:xfrm>
          <a:prstGeom prst="line">
            <a:avLst/>
          </a:prstGeom>
          <a:noFill/>
          <a:ln w="15875">
            <a:solidFill>
              <a:srgbClr val="6B74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4956048" y="3977640"/>
            <a:ext cx="164592" cy="164592"/>
          </a:xfrm>
          <a:prstGeom prst="triangle">
            <a:avLst/>
          </a:prstGeom>
          <a:solidFill>
            <a:srgbClr val="6B7480"/>
          </a:solidFill>
          <a:ln/>
        </p:spPr>
      </p:sp>
      <p:sp>
        <p:nvSpPr>
          <p:cNvPr id="16" name="Shape 13"/>
          <p:cNvSpPr/>
          <p:nvPr/>
        </p:nvSpPr>
        <p:spPr>
          <a:xfrm>
            <a:off x="9006840" y="96012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0" y="9601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Motor (via L293D)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86600" y="1243584"/>
            <a:ext cx="1920240" cy="0"/>
          </a:xfrm>
          <a:prstGeom prst="line">
            <a:avLst/>
          </a:prstGeom>
          <a:noFill/>
          <a:ln w="15875">
            <a:solidFill>
              <a:srgbClr val="6B74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8805672" y="1161288"/>
            <a:ext cx="164592" cy="164592"/>
          </a:xfrm>
          <a:prstGeom prst="triangle">
            <a:avLst/>
          </a:prstGeom>
          <a:solidFill>
            <a:srgbClr val="6B7480"/>
          </a:solidFill>
          <a:ln/>
        </p:spPr>
      </p:sp>
      <p:sp>
        <p:nvSpPr>
          <p:cNvPr id="20" name="Shape 17"/>
          <p:cNvSpPr/>
          <p:nvPr/>
        </p:nvSpPr>
        <p:spPr>
          <a:xfrm>
            <a:off x="9006840" y="189280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0" y="189280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 (Door)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086600" y="2176272"/>
            <a:ext cx="1920240" cy="0"/>
          </a:xfrm>
          <a:prstGeom prst="line">
            <a:avLst/>
          </a:prstGeom>
          <a:noFill/>
          <a:ln w="15875">
            <a:solidFill>
              <a:srgbClr val="6B748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5400000">
            <a:off x="8805672" y="2093976"/>
            <a:ext cx="164592" cy="164592"/>
          </a:xfrm>
          <a:prstGeom prst="triangle">
            <a:avLst/>
          </a:prstGeom>
          <a:solidFill>
            <a:srgbClr val="6B7480"/>
          </a:solidFill>
          <a:ln/>
        </p:spPr>
      </p:sp>
      <p:sp>
        <p:nvSpPr>
          <p:cNvPr id="24" name="Shape 21"/>
          <p:cNvSpPr/>
          <p:nvPr/>
        </p:nvSpPr>
        <p:spPr>
          <a:xfrm>
            <a:off x="9006840" y="282549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0" y="282549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086600" y="3108960"/>
            <a:ext cx="1920240" cy="0"/>
          </a:xfrm>
          <a:prstGeom prst="line">
            <a:avLst/>
          </a:prstGeom>
          <a:noFill/>
          <a:ln w="15875">
            <a:solidFill>
              <a:srgbClr val="6B748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rot="5400000">
            <a:off x="8805672" y="3026664"/>
            <a:ext cx="164592" cy="164592"/>
          </a:xfrm>
          <a:prstGeom prst="triangle">
            <a:avLst/>
          </a:prstGeom>
          <a:solidFill>
            <a:srgbClr val="6B7480"/>
          </a:solidFill>
          <a:ln/>
        </p:spPr>
      </p:sp>
      <p:sp>
        <p:nvSpPr>
          <p:cNvPr id="28" name="Shape 25"/>
          <p:cNvSpPr/>
          <p:nvPr/>
        </p:nvSpPr>
        <p:spPr>
          <a:xfrm>
            <a:off x="9006840" y="37581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0" y="375818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LEDs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086600" y="4041648"/>
            <a:ext cx="1920240" cy="0"/>
          </a:xfrm>
          <a:prstGeom prst="line">
            <a:avLst/>
          </a:prstGeom>
          <a:noFill/>
          <a:ln w="15875">
            <a:solidFill>
              <a:srgbClr val="6B748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rot="5400000">
            <a:off x="8805672" y="3959352"/>
            <a:ext cx="164592" cy="164592"/>
          </a:xfrm>
          <a:prstGeom prst="triangle">
            <a:avLst/>
          </a:prstGeom>
          <a:solidFill>
            <a:srgbClr val="6B7480"/>
          </a:solidFill>
          <a:ln/>
        </p:spPr>
      </p:sp>
      <p:sp>
        <p:nvSpPr>
          <p:cNvPr id="32" name="Shape 29"/>
          <p:cNvSpPr/>
          <p:nvPr/>
        </p:nvSpPr>
        <p:spPr>
          <a:xfrm>
            <a:off x="9006840" y="469087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0" y="469087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086600" y="4974336"/>
            <a:ext cx="1920240" cy="0"/>
          </a:xfrm>
          <a:prstGeom prst="line">
            <a:avLst/>
          </a:prstGeom>
          <a:noFill/>
          <a:ln w="15875">
            <a:solidFill>
              <a:srgbClr val="6B748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rot="5400000">
            <a:off x="8805672" y="4892040"/>
            <a:ext cx="164592" cy="164592"/>
          </a:xfrm>
          <a:prstGeom prst="triangle">
            <a:avLst/>
          </a:prstGeom>
          <a:solidFill>
            <a:srgbClr val="6B7480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1234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006840" y="594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52704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67" y="1654607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721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17320" y="18013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 running the elevator logic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</p:sp>
      <p:sp>
        <p:nvSpPr>
          <p:cNvPr id="9" name="Shape 6"/>
          <p:cNvSpPr/>
          <p:nvPr/>
        </p:nvSpPr>
        <p:spPr>
          <a:xfrm>
            <a:off x="4498848" y="152704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407" y="1654607"/>
            <a:ext cx="311810" cy="3118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14721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166360" y="18013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floor, direction, door status, messages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46720" y="13258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</p:sp>
      <p:sp>
        <p:nvSpPr>
          <p:cNvPr id="14" name="Shape 10"/>
          <p:cNvSpPr/>
          <p:nvPr/>
        </p:nvSpPr>
        <p:spPr>
          <a:xfrm>
            <a:off x="8247888" y="152704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447" y="1654607"/>
            <a:ext cx="311810" cy="3118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15400" y="14721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Keypad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915400" y="18013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select the desired floor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2907792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</p:sp>
      <p:sp>
        <p:nvSpPr>
          <p:cNvPr id="19" name="Shape 14"/>
          <p:cNvSpPr/>
          <p:nvPr/>
        </p:nvSpPr>
        <p:spPr>
          <a:xfrm>
            <a:off x="749808" y="31089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367" y="3236519"/>
            <a:ext cx="311810" cy="3118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0540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Motor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417320" y="33832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upward and downward movement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297680" y="2907792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</p:sp>
      <p:sp>
        <p:nvSpPr>
          <p:cNvPr id="24" name="Shape 18"/>
          <p:cNvSpPr/>
          <p:nvPr/>
        </p:nvSpPr>
        <p:spPr>
          <a:xfrm>
            <a:off x="4498848" y="31089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407" y="3236519"/>
            <a:ext cx="311810" cy="3118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30540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L293D Driver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166360" y="33832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direction of the DC motor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046720" y="2907792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</p:sp>
      <p:sp>
        <p:nvSpPr>
          <p:cNvPr id="29" name="Shape 22"/>
          <p:cNvSpPr/>
          <p:nvPr/>
        </p:nvSpPr>
        <p:spPr>
          <a:xfrm>
            <a:off x="8247888" y="31089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447" y="3236519"/>
            <a:ext cx="311810" cy="31181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915400" y="30540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915400" y="33832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opening and closing the door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558241" y="45262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4" name="Shape 26"/>
          <p:cNvSpPr/>
          <p:nvPr/>
        </p:nvSpPr>
        <p:spPr>
          <a:xfrm>
            <a:off x="749808" y="46908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367" y="4818431"/>
            <a:ext cx="311810" cy="31181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417320" y="46360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1417320" y="496519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LED(G) :</a:t>
            </a:r>
            <a:r>
              <a:rPr lang="ar-EG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 to normal state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LED(R) : Indicate to emergency state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4297680" y="4489704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</p:sp>
      <p:sp>
        <p:nvSpPr>
          <p:cNvPr id="39" name="Shape 30"/>
          <p:cNvSpPr/>
          <p:nvPr/>
        </p:nvSpPr>
        <p:spPr>
          <a:xfrm>
            <a:off x="4498848" y="46908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6407" y="4818431"/>
            <a:ext cx="311810" cy="31181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166360" y="46360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5166360" y="496519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an alarm during emergencies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8046720" y="4489704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</p:sp>
      <p:sp>
        <p:nvSpPr>
          <p:cNvPr id="44" name="Shape 34"/>
          <p:cNvSpPr/>
          <p:nvPr/>
        </p:nvSpPr>
        <p:spPr>
          <a:xfrm>
            <a:off x="8247888" y="46908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5447" y="4818431"/>
            <a:ext cx="311810" cy="31181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8915400" y="46360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Button</a:t>
            </a:r>
            <a:endParaRPr lang="en-US" sz="1300" dirty="0"/>
          </a:p>
        </p:txBody>
      </p:sp>
      <p:sp>
        <p:nvSpPr>
          <p:cNvPr id="47" name="Text 36"/>
          <p:cNvSpPr/>
          <p:nvPr/>
        </p:nvSpPr>
        <p:spPr>
          <a:xfrm>
            <a:off x="8915400" y="496519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triggers an emergency stop</a:t>
            </a:r>
            <a:endParaRPr lang="en-US" sz="1050" dirty="0"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/ Driver Modules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7190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1867205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5910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45920" y="199339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motor control lines, LEDs, and buzzer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</p:sp>
      <p:sp>
        <p:nvSpPr>
          <p:cNvPr id="9" name="Shape 6"/>
          <p:cNvSpPr/>
          <p:nvPr/>
        </p:nvSpPr>
        <p:spPr>
          <a:xfrm>
            <a:off x="6428232" y="17190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365" y="1867205"/>
            <a:ext cx="362102" cy="3621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5910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 + GIE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269480" y="199339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interrupt for the emergency button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</p:sp>
      <p:sp>
        <p:nvSpPr>
          <p:cNvPr id="14" name="Shape 10"/>
          <p:cNvSpPr/>
          <p:nvPr/>
        </p:nvSpPr>
        <p:spPr>
          <a:xfrm>
            <a:off x="804672" y="33192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3467405"/>
            <a:ext cx="362102" cy="3621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1912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45920" y="359359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timing, door timing, and servo 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72200" y="29718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</p:sp>
      <p:sp>
        <p:nvSpPr>
          <p:cNvPr id="19" name="Shape 14"/>
          <p:cNvSpPr/>
          <p:nvPr/>
        </p:nvSpPr>
        <p:spPr>
          <a:xfrm>
            <a:off x="6428232" y="33192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6365" y="3467405"/>
            <a:ext cx="362102" cy="3621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31912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Driver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269480" y="359359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elevator information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45720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</p:sp>
      <p:sp>
        <p:nvSpPr>
          <p:cNvPr id="24" name="Shape 18"/>
          <p:cNvSpPr/>
          <p:nvPr/>
        </p:nvSpPr>
        <p:spPr>
          <a:xfrm>
            <a:off x="804672" y="49194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805" y="5067605"/>
            <a:ext cx="362102" cy="36210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45920" y="47914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Keypad Driver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645920" y="519379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floor selection input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172200" y="45720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</p:sp>
      <p:sp>
        <p:nvSpPr>
          <p:cNvPr id="29" name="Shape 22"/>
          <p:cNvSpPr/>
          <p:nvPr/>
        </p:nvSpPr>
        <p:spPr>
          <a:xfrm>
            <a:off x="6428232" y="49194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6365" y="5067605"/>
            <a:ext cx="362102" cy="36210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69480" y="47914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Driver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7269480" y="519379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indication</a:t>
            </a:r>
            <a:endParaRPr lang="en-US" sz="1150" dirty="0"/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00200" y="3268980"/>
            <a:ext cx="463731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88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706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3840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24051" y="3268980"/>
            <a:ext cx="463731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63931" y="2788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063931" y="27706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43891" y="3840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47903" y="3268980"/>
            <a:ext cx="463731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87783" y="2788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487783" y="27706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67743" y="3840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71754" y="3268980"/>
            <a:ext cx="463731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1634" y="2788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911634" y="27706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91594" y="3840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95606" y="3268980"/>
            <a:ext cx="463731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5486" y="2788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35486" y="27706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15446" y="3840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19457" y="3268980"/>
            <a:ext cx="463731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59337" y="2788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759337" y="27706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39297" y="3840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143309" y="3268980"/>
            <a:ext cx="463731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83189" y="278892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9183189" y="27706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863149" y="3840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607040" y="2788920"/>
            <a:ext cx="960120" cy="9601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2" name="Text 30"/>
          <p:cNvSpPr/>
          <p:nvPr/>
        </p:nvSpPr>
        <p:spPr>
          <a:xfrm>
            <a:off x="10607040" y="27706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287000" y="38404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Request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48463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repeats this cycle for every new floor request, choosing the shortest and most efficient path based on the elevator's current position and direction.</a:t>
            </a:r>
            <a:endParaRPr lang="en-US" sz="1300" dirty="0"/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&amp; Status Indicators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93776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4480560" cy="1554480"/>
          </a:xfrm>
          <a:prstGeom prst="roundRect">
            <a:avLst>
              <a:gd name="adj" fmla="val 3529"/>
            </a:avLst>
          </a:prstGeom>
          <a:solidFill>
            <a:srgbClr val="FFFF00"/>
          </a:solidFill>
          <a:ln/>
        </p:spPr>
        <p:txBody>
          <a:bodyPr/>
          <a:lstStyle/>
          <a:p>
            <a:endParaRPr lang="en-US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ourier New" pitchFamily="34" charset="0"/>
                <a:cs typeface="Courier New" pitchFamily="34" charset="-120"/>
              </a:rPr>
              <a:t>Moving Up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ourier New" pitchFamily="34" charset="0"/>
                <a:cs typeface="Courier New" pitchFamily="34" charset="-120"/>
              </a:rPr>
              <a:t>Floor: 1</a:t>
            </a:r>
            <a:endParaRPr lang="en-US" sz="1500" b="1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16x2 LCD  •  Live System Status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Shows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61848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6199632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floor number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2020824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199632" y="18836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direction (UP / DOWN)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242316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199632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status (OPEN / CLOSED)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282549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26883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and emergency messages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Indicators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385876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3749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LED(G) : indicate to normal state </a:t>
            </a:r>
          </a:p>
        </p:txBody>
      </p:sp>
      <p:sp>
        <p:nvSpPr>
          <p:cNvPr id="20" name="Shape 18"/>
          <p:cNvSpPr/>
          <p:nvPr/>
        </p:nvSpPr>
        <p:spPr>
          <a:xfrm>
            <a:off x="5943600" y="4261104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41239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LED(R) : Indicate to emergency state</a:t>
            </a:r>
            <a:endParaRPr lang="en-US" sz="1400" dirty="0"/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Door Control  Servo + Timer0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1458011"/>
            <a:ext cx="211226" cy="2112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1316736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Timer0 runs in CTC mode to generate a steady 100 µs interrupt (OCR0 = 99, prescaler = 8)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384048" cy="384048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2143811"/>
            <a:ext cx="211226" cy="2112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8992" y="2002536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tick counter counts these 100 µs interrupts to time each phase precisely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2829611"/>
            <a:ext cx="211226" cy="2112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8992" y="2688336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machine drives the pin: IDLE → PULSE_HIGH → PULSE_LOW → IDLE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3515411"/>
            <a:ext cx="211226" cy="2112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992" y="3374136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ms HIGH (10 ticks) = 0° → door CLOSED   •   1.5 ms HIGH (15 ticks) = 90° → door OPEN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4201211"/>
            <a:ext cx="211226" cy="2112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78992" y="4059936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 phase automatically completes the ~20 ms (200-tick) frame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6400800" y="1234440"/>
            <a:ext cx="5257800" cy="4709160"/>
          </a:xfrm>
          <a:prstGeom prst="roundRect">
            <a:avLst>
              <a:gd name="adj" fmla="val 1942"/>
            </a:avLst>
          </a:prstGeom>
          <a:solidFill>
            <a:srgbClr val="EEF3FC"/>
          </a:solidFill>
          <a:ln/>
        </p:spPr>
      </p:sp>
      <p:sp>
        <p:nvSpPr>
          <p:cNvPr id="19" name="Text 12"/>
          <p:cNvSpPr/>
          <p:nvPr/>
        </p:nvSpPr>
        <p:spPr>
          <a:xfrm>
            <a:off x="6629400" y="13716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Control Signal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629400" y="1664208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100 µs Timer0 ticks (CTC, OCR0 = 99)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6629400" y="210312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629400" y="221284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 (CLOSE)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6629400" y="252374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1 ms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275320" y="2697480"/>
            <a:ext cx="2926080" cy="0"/>
          </a:xfrm>
          <a:prstGeom prst="line">
            <a:avLst/>
          </a:prstGeom>
          <a:noFill/>
          <a:ln w="15875">
            <a:solidFill>
              <a:srgbClr val="6B748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275320" y="2194560"/>
            <a:ext cx="0" cy="50292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275320" y="2194560"/>
            <a:ext cx="146304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421624" y="2194560"/>
            <a:ext cx="0" cy="50292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183880" y="1938528"/>
            <a:ext cx="603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8558784" y="2441448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629400" y="35661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629400" y="367588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(OPEN)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6629400" y="398678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1.5 ms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275320" y="4160520"/>
            <a:ext cx="2926080" cy="0"/>
          </a:xfrm>
          <a:prstGeom prst="line">
            <a:avLst/>
          </a:prstGeom>
          <a:noFill/>
          <a:ln w="15875">
            <a:solidFill>
              <a:srgbClr val="6B748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275320" y="3657600"/>
            <a:ext cx="0" cy="50292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275320" y="3657600"/>
            <a:ext cx="219456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494776" y="3657600"/>
            <a:ext cx="0" cy="50292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8183880" y="3401568"/>
            <a:ext cx="676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ms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8631936" y="3904488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 ms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6629400" y="54864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≈ 20 ms frame  •  200 × 100 µs ticks  —  LOW time completes the frame automatically</a:t>
            </a:r>
            <a:endParaRPr lang="en-US" sz="950" dirty="0"/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Safety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1280160" cy="12801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1842516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01752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emergency button is wired to the ATmega32's external interrupt (EXTI) with Global Interrupt Enable (GIE) active, so it can react the instant it is pressed — regardless of what the controller is currently doing.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760720" y="1691640"/>
            <a:ext cx="5760720" cy="868680"/>
          </a:xfrm>
          <a:prstGeom prst="roundRect">
            <a:avLst>
              <a:gd name="adj" fmla="val 10526"/>
            </a:avLst>
          </a:prstGeom>
          <a:solidFill>
            <a:srgbClr val="27317A"/>
          </a:solidFill>
          <a:ln/>
        </p:spPr>
      </p:sp>
      <p:sp>
        <p:nvSpPr>
          <p:cNvPr id="8" name="Shape 5"/>
          <p:cNvSpPr/>
          <p:nvPr/>
        </p:nvSpPr>
        <p:spPr>
          <a:xfrm>
            <a:off x="5989320" y="191109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169164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motion stops immediately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760720" y="2788920"/>
            <a:ext cx="5760720" cy="868680"/>
          </a:xfrm>
          <a:prstGeom prst="roundRect">
            <a:avLst>
              <a:gd name="adj" fmla="val 10526"/>
            </a:avLst>
          </a:prstGeom>
          <a:solidFill>
            <a:srgbClr val="27317A"/>
          </a:solidFill>
          <a:ln/>
        </p:spPr>
      </p:sp>
      <p:sp>
        <p:nvSpPr>
          <p:cNvPr id="11" name="Shape 8"/>
          <p:cNvSpPr/>
          <p:nvPr/>
        </p:nvSpPr>
        <p:spPr>
          <a:xfrm>
            <a:off x="5989320" y="300837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27889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buzzer is activated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760720" y="3886200"/>
            <a:ext cx="5760720" cy="868680"/>
          </a:xfrm>
          <a:prstGeom prst="roundRect">
            <a:avLst>
              <a:gd name="adj" fmla="val 10526"/>
            </a:avLst>
          </a:prstGeom>
          <a:solidFill>
            <a:srgbClr val="27317A"/>
          </a:solidFill>
          <a:ln/>
        </p:spPr>
      </p:sp>
      <p:sp>
        <p:nvSpPr>
          <p:cNvPr id="14" name="Shape 11"/>
          <p:cNvSpPr/>
          <p:nvPr/>
        </p:nvSpPr>
        <p:spPr>
          <a:xfrm>
            <a:off x="5989320" y="410565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388620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displays an emergency message</a:t>
            </a:r>
            <a:endParaRPr lang="en-US" sz="1500" dirty="0"/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17373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193167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51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Floor Requests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30906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and serve several requested floors in one trip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51960" y="1463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</p:spPr>
      </p:sp>
      <p:sp>
        <p:nvSpPr>
          <p:cNvPr id="9" name="Shape 6"/>
          <p:cNvSpPr/>
          <p:nvPr/>
        </p:nvSpPr>
        <p:spPr>
          <a:xfrm>
            <a:off x="5623560" y="17373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870" y="193167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2651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Direction-Based Priority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480560" y="30906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requests in the order that matches current travel direction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938796" y="1497563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</p:spPr>
      </p:sp>
      <p:sp>
        <p:nvSpPr>
          <p:cNvPr id="14" name="Shape 10"/>
          <p:cNvSpPr/>
          <p:nvPr/>
        </p:nvSpPr>
        <p:spPr>
          <a:xfrm>
            <a:off x="9326880" y="17373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1190" y="193167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38160" y="2651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Closing Countdown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183880" y="30906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 countdown before automatically closing the door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308860" y="39776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EF3FC"/>
          </a:solidFill>
          <a:ln/>
        </p:spPr>
      </p:sp>
      <p:sp>
        <p:nvSpPr>
          <p:cNvPr id="19" name="Shape 14"/>
          <p:cNvSpPr/>
          <p:nvPr/>
        </p:nvSpPr>
        <p:spPr>
          <a:xfrm>
            <a:off x="2537460" y="423367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4393692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14700" y="41788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Obstruction Detection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314700" y="45720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blockage and re-opens the door for safety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012180" y="39776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EF3FC"/>
          </a:solidFill>
          <a:ln/>
        </p:spPr>
      </p:sp>
      <p:sp>
        <p:nvSpPr>
          <p:cNvPr id="24" name="Shape 18"/>
          <p:cNvSpPr/>
          <p:nvPr/>
        </p:nvSpPr>
        <p:spPr>
          <a:xfrm>
            <a:off x="6240780" y="423367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393692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18020" y="41788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Warning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018020" y="45720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when the cabin exceeds its safe weight limit</a:t>
            </a:r>
            <a:endParaRPr lang="en-US" sz="1050" dirty="0"/>
          </a:p>
        </p:txBody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-13716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37418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0" y="1497330"/>
            <a:ext cx="754380" cy="7543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737360" y="4023360"/>
            <a:ext cx="8686800" cy="34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safe, automated, and realistic 9-floor elevator control system built around the ATmega32.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2508885" y="4648200"/>
            <a:ext cx="6858000" cy="0"/>
          </a:xfrm>
          <a:prstGeom prst="line">
            <a:avLst/>
          </a:prstGeom>
          <a:noFill/>
          <a:ln w="12700">
            <a:solidFill>
              <a:srgbClr val="44509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</a:t>
            </a:r>
            <a:r>
              <a:rPr lang="en-US" sz="2000" b="1" dirty="0">
                <a:solidFill>
                  <a:srgbClr val="FFFF00"/>
                </a:solidFill>
              </a:rPr>
              <a:t>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777</Words>
  <Application>Microsoft Office PowerPoint</Application>
  <PresentationFormat>Widescreen</PresentationFormat>
  <Paragraphs>161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Yossef Alaa</cp:lastModifiedBy>
  <cp:revision>19</cp:revision>
  <dcterms:created xsi:type="dcterms:W3CDTF">2026-08-06T08:45:07Z</dcterms:created>
  <dcterms:modified xsi:type="dcterms:W3CDTF">2026-08-06T12:14:21Z</dcterms:modified>
</cp:coreProperties>
</file>